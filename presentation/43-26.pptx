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64" r:id="rId3"/>
    <p:sldId id="265" r:id="rId4"/>
    <p:sldId id="289" r:id="rId5"/>
    <p:sldId id="290" r:id="rId6"/>
    <p:sldId id="291" r:id="rId7"/>
    <p:sldId id="292" r:id="rId8"/>
    <p:sldId id="293" r:id="rId9"/>
    <p:sldId id="294" r:id="rId10"/>
    <p:sldId id="295" r:id="rId11"/>
    <p:sldId id="296" r:id="rId12"/>
    <p:sldId id="297" r:id="rId13"/>
    <p:sldId id="298" r:id="rId14"/>
    <p:sldId id="299" r:id="rId15"/>
    <p:sldId id="300" r:id="rId16"/>
    <p:sldId id="302" r:id="rId17"/>
    <p:sldId id="301" r:id="rId18"/>
    <p:sldId id="303" r:id="rId19"/>
    <p:sldId id="304" r:id="rId20"/>
    <p:sldId id="305" r:id="rId21"/>
    <p:sldId id="306" r:id="rId22"/>
    <p:sldId id="307" r:id="rId23"/>
    <p:sldId id="308" r:id="rId24"/>
    <p:sldId id="309" r:id="rId25"/>
    <p:sldId id="310" r:id="rId26"/>
    <p:sldId id="311" r:id="rId27"/>
    <p:sldId id="312" r:id="rId28"/>
    <p:sldId id="262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97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127" autoAdjust="0"/>
    <p:restoredTop sz="94660"/>
  </p:normalViewPr>
  <p:slideViewPr>
    <p:cSldViewPr snapToGrid="0">
      <p:cViewPr varScale="1">
        <p:scale>
          <a:sx n="89" d="100"/>
          <a:sy n="89" d="100"/>
        </p:scale>
        <p:origin x="27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D26430-DC23-4E34-874E-0F4DD2CDFD3E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2EC19D-FF60-40E9-8CDC-F43A76F71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874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17838-C90C-2E06-0BA4-C4BCBF9C24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7AD288-A76E-8365-80B5-B0004D2ED5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90C85A-5521-AF14-B02B-2ABD7B0FD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A1746-4762-4E30-8686-CC843C670C21}" type="datetime1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EBE6AA-20FB-5823-57C4-871485EE9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EBE13-3B50-A804-AB50-C190DA186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68ECD-D36E-4BCC-ACC4-6104BF1AB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466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D0330-ABEC-B63E-34B7-B2B3ADC84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64348-63DE-4ACD-D587-36398CAC1D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69E3E-893C-7321-2EFA-058020A0C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CE2C0-8190-47EF-A25F-756B421A601D}" type="datetime1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B71588-8A39-650D-3952-F1BD1F9ED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4FB80A-5459-F75E-C192-4604C1FEF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68ECD-D36E-4BCC-ACC4-6104BF1AB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614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BFE41-AADB-A179-89DF-DA5A74A14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1A68E1-B1B9-29B8-BE13-2A1724C1B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C79A0B-62BE-8F09-CF03-4EB478241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67A3A-17E2-4339-B83D-5CB0C22DDBC1}" type="datetime1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DF4F40-C213-D912-04B7-6ECEB4AA8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C33B7-112A-CADF-C523-C46617973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68ECD-D36E-4BCC-ACC4-6104BF1AB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0720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38058-B4D9-4B06-AB94-20EDB4007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079306-99E3-CF3E-A45C-89A870F615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293507-07B9-F1BA-8644-37E2927A3E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24BC1F-204B-C6F7-9F26-BF711B364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CF3CC-A6B7-4568-9B9F-CAE052DB577B}" type="datetime1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19DD8A-4863-8A06-FD60-E8C6B270D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130F8C-7028-6A8D-2EC7-5EFDAA9C4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68ECD-D36E-4BCC-ACC4-6104BF1AB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5653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27D47-4CE1-8E28-4575-482EA289F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4B195E-4052-974A-0A44-F955E0AED0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B28F6C-D73E-38D0-2008-AA2E4AB6D5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2444CA-54DD-5105-004C-FFAC96B7AF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A43F18-5611-7E79-5467-EEDBE718F8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280112-2CBA-94C1-FF18-762949991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9D1FEA-C4BA-4A7D-BCCB-EC9B81660636}" type="datetime1">
              <a:rPr lang="en-US" smtClean="0"/>
              <a:t>11/1/2025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3BD28F-D07B-8DD2-23AC-B558EE734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10530B-8AE6-579F-5926-85529B2BC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68ECD-D36E-4BCC-ACC4-6104BF1AB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046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A5057-72B7-538A-A2AD-473E799E9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5ECD11-3E30-F4A6-8A41-4BDEC84FB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68465-0305-4B11-9346-BB60CF967812}" type="datetime1">
              <a:rPr lang="en-US" smtClean="0"/>
              <a:t>11/1/2025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ECC67C-E8C0-1346-B968-3A7B6B425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AFE503-138F-27C3-BC81-F2C90F22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68ECD-D36E-4BCC-ACC4-6104BF1AB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938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0AE535-6129-CB87-2096-BDC326AA2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719D5E-A7CE-49D4-80E8-0F4FFBF0816E}" type="datetime1">
              <a:rPr lang="en-US" smtClean="0"/>
              <a:t>11/1/2025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72E96D-5311-AFD6-CA04-4952B5514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85615-7A45-60EE-A8B1-954B5DEEC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68ECD-D36E-4BCC-ACC4-6104BF1AB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179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B4DD8-3879-D498-DD9B-11F96519B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C95EC4-53EA-93CA-2B65-C14032E28E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5538F0-07AA-64AF-4950-6E6EF191C9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3D4FE2-2973-F8BA-E16D-59120BB36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717A2-9207-4B43-A1B7-DF9AE996D68B}" type="datetime1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A84C5-BF0A-057C-3C24-1FF38B7C3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2F8141-059A-5241-2F3C-4D9E3A6B5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68ECD-D36E-4BCC-ACC4-6104BF1AB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655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9974A-A50E-A798-7402-D4F2DE7E1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2368D0-4EC0-8F93-E146-451026DD36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B992AE-E090-ADC5-034F-EACA87091C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926FF5-E1D3-FD25-9F7A-867E808B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F2193-67AA-4B79-BB3A-CB09E85542E5}" type="datetime1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A192AB-B07C-8C33-25B1-6DD691E4E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05B684-0EA2-CB91-6964-A7D53E2BD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68ECD-D36E-4BCC-ACC4-6104BF1AB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0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50C4F-9AAF-A5F1-FAC6-E7898D66A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62BB70-A50F-B8FB-8790-48327C2027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59FA31-0763-5120-9B2F-675ABCBC2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B14DD-1CDD-4EB3-90A2-115373800CBA}" type="datetime1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96D325-AE4C-7085-70EF-0EEC7E9E6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6A7FAE-DE26-7804-DF24-431C8DD53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68ECD-D36E-4BCC-ACC4-6104BF1AB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6738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35DDF7-2A2C-7299-638E-6002E57929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08344D-880F-E3F3-AC26-7E408B0F6F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3D5AF-5BD7-8CEE-6A63-F3CB26A04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AF497-C8E7-42F8-8299-EABFF01C7591}" type="datetime1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574ED6-43D9-2B40-371D-3375E4BA1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F575AC-7A0E-FB07-497B-F736C8A30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68ECD-D36E-4BCC-ACC4-6104BF1AB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055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F80BAC-AED8-19CD-9366-0A0A9E8C0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3605FB-CBC7-1FFE-BA43-B621011883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17745-6551-D77E-BEA4-588691BFA0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EB28F1-0A97-48C1-AA81-C22E1BE28CD5}" type="datetime1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3AD78-1008-8B00-D751-9A8458459E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40292-73BB-AF23-A4A1-8442E2C54C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068ECD-D36E-4BCC-ACC4-6104BF1AB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42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rojectohid/4142-project" TargetMode="Externa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een and white sign with a book and text&#10;&#10;AI-generated content may be incorrect.">
            <a:extLst>
              <a:ext uri="{FF2B5EF4-FFF2-40B4-BE49-F238E27FC236}">
                <a16:creationId xmlns:a16="http://schemas.microsoft.com/office/drawing/2014/main" id="{8B79063B-F3B2-A169-2D6F-93B1A0E4E4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068" y="6056190"/>
            <a:ext cx="565812" cy="642128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38023" y="5909094"/>
            <a:ext cx="1198209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87100" y="6207724"/>
            <a:ext cx="309832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77B0C3-5711-195B-4F75-7D59975BC897}"/>
              </a:ext>
            </a:extLst>
          </p:cNvPr>
          <p:cNvSpPr txBox="1"/>
          <p:nvPr/>
        </p:nvSpPr>
        <p:spPr>
          <a:xfrm>
            <a:off x="1546348" y="6100254"/>
            <a:ext cx="524054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</a:t>
            </a:r>
            <a:r>
              <a:rPr lang="en-US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Elecctrical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Electronic Engineering</a:t>
            </a:r>
          </a:p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Khulna University of Engineering &amp; Technology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372A4C-9F69-B680-8444-8B9216087A20}"/>
              </a:ext>
            </a:extLst>
          </p:cNvPr>
          <p:cNvSpPr txBox="1"/>
          <p:nvPr/>
        </p:nvSpPr>
        <p:spPr>
          <a:xfrm>
            <a:off x="990804" y="945788"/>
            <a:ext cx="1021039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chemeClr val="accent2">
                    <a:lumMod val="75000"/>
                  </a:schemeClr>
                </a:solidFill>
                <a:effectLst/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Bridging Signal and Intelligence: A DSP-Driven EEG Feature Pipeline for Neural Network Seizure Detection</a:t>
            </a:r>
            <a:endParaRPr lang="en-US" sz="3600" b="1" dirty="0">
              <a:solidFill>
                <a:schemeClr val="accent2">
                  <a:lumMod val="75000"/>
                </a:schemeClr>
              </a:solidFill>
              <a:effectLst/>
              <a:latin typeface="Times New Roman" panose="020206030504050203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algn="ctr"/>
            <a:endParaRPr lang="en-US" sz="3600" b="1" i="0" u="none" strike="noStrik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8F6EF9-3364-426D-24C3-D39891C33B48}"/>
              </a:ext>
            </a:extLst>
          </p:cNvPr>
          <p:cNvSpPr txBox="1"/>
          <p:nvPr/>
        </p:nvSpPr>
        <p:spPr>
          <a:xfrm>
            <a:off x="876709" y="3198948"/>
            <a:ext cx="430776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Md.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Ohiduzzaman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Sajol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(20030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43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Durjoy Sarkar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Dhrubo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(20030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26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67B3F6-A4B9-3B88-6EC4-2F1FA2BC5E2D}"/>
              </a:ext>
            </a:extLst>
          </p:cNvPr>
          <p:cNvSpPr txBox="1"/>
          <p:nvPr/>
        </p:nvSpPr>
        <p:spPr>
          <a:xfrm>
            <a:off x="6676845" y="6207724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00C0DC-B7B8-3981-E1EA-4C808D475219}"/>
              </a:ext>
            </a:extLst>
          </p:cNvPr>
          <p:cNvSpPr txBox="1"/>
          <p:nvPr/>
        </p:nvSpPr>
        <p:spPr>
          <a:xfrm>
            <a:off x="876709" y="4276166"/>
            <a:ext cx="247434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On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November 2, 2025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B9AD50-750C-6EAD-AE49-AE06136E8714}"/>
              </a:ext>
            </a:extLst>
          </p:cNvPr>
          <p:cNvSpPr txBox="1"/>
          <p:nvPr/>
        </p:nvSpPr>
        <p:spPr>
          <a:xfrm>
            <a:off x="6934249" y="3198948"/>
            <a:ext cx="4685531" cy="1770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To</a:t>
            </a:r>
          </a:p>
          <a:p>
            <a:r>
              <a:rPr lang="en-US" sz="2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Dr. </a:t>
            </a:r>
            <a:r>
              <a:rPr lang="en-US" sz="20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Monira</a:t>
            </a:r>
            <a:r>
              <a:rPr lang="en-US" sz="2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Islam</a:t>
            </a:r>
            <a:endParaRPr lang="en-US" sz="2000" dirty="0">
              <a:effectLst/>
              <a:latin typeface="Times New Roman" panose="020206030504050203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marL="0" marR="0" algn="ctr">
              <a:spcBef>
                <a:spcPts val="0"/>
              </a:spcBef>
              <a:spcAft>
                <a:spcPts val="1000"/>
              </a:spcAft>
            </a:pPr>
            <a:r>
              <a:rPr lang="en-US" sz="18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 Associate Professor,  Dept. of EEE, KUET</a:t>
            </a:r>
          </a:p>
          <a:p>
            <a:pPr marL="0" marR="0">
              <a:lnSpc>
                <a:spcPct val="80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Dr. Md. </a:t>
            </a:r>
            <a:r>
              <a:rPr lang="en-US" sz="2000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Mahabub</a:t>
            </a: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Hasan</a:t>
            </a:r>
          </a:p>
          <a:p>
            <a:pPr marL="0" marR="0" algn="ctr">
              <a:lnSpc>
                <a:spcPct val="80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i="1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 Professor, Dept. of EEE, KUET</a:t>
            </a:r>
          </a:p>
        </p:txBody>
      </p:sp>
    </p:spTree>
    <p:extLst>
      <p:ext uri="{BB962C8B-B14F-4D97-AF65-F5344CB8AC3E}">
        <p14:creationId xmlns:p14="http://schemas.microsoft.com/office/powerpoint/2010/main" val="4215909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193756"/>
            <a:ext cx="1198209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87100" y="6207724"/>
            <a:ext cx="309832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739927" y="290132"/>
            <a:ext cx="94694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074569-912B-880D-75CC-46FE8A0886BB}"/>
              </a:ext>
            </a:extLst>
          </p:cNvPr>
          <p:cNvSpPr txBox="1"/>
          <p:nvPr/>
        </p:nvSpPr>
        <p:spPr>
          <a:xfrm>
            <a:off x="4430613" y="1657565"/>
            <a:ext cx="3330772" cy="397031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Background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Discussion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5BC8DA-C4BE-4893-3457-656E41CD0998}"/>
              </a:ext>
            </a:extLst>
          </p:cNvPr>
          <p:cNvSpPr txBox="1"/>
          <p:nvPr/>
        </p:nvSpPr>
        <p:spPr>
          <a:xfrm>
            <a:off x="1223443" y="6360162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</p:spTree>
    <p:extLst>
      <p:ext uri="{BB962C8B-B14F-4D97-AF65-F5344CB8AC3E}">
        <p14:creationId xmlns:p14="http://schemas.microsoft.com/office/powerpoint/2010/main" val="6525372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400" y="6332938"/>
            <a:ext cx="309832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170751" y="297757"/>
            <a:ext cx="94694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F0F2A-E510-D61E-AE63-AF50BBEC87FF}"/>
              </a:ext>
            </a:extLst>
          </p:cNvPr>
          <p:cNvSpPr txBox="1"/>
          <p:nvPr/>
        </p:nvSpPr>
        <p:spPr>
          <a:xfrm>
            <a:off x="2244307" y="1669594"/>
            <a:ext cx="8395943" cy="32465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DSP-based EEG pipeline for seizure detection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CHB-MIT dataset with notch &amp; bandpass filters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Extracted spectral &amp; statistical EEG features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Visualized raw vs. filtered &amp; frequency spectra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 ready for ML seizure classification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</p:spTree>
    <p:extLst>
      <p:ext uri="{BB962C8B-B14F-4D97-AF65-F5344CB8AC3E}">
        <p14:creationId xmlns:p14="http://schemas.microsoft.com/office/powerpoint/2010/main" val="41863974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400" y="6332938"/>
            <a:ext cx="309832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170751" y="297757"/>
            <a:ext cx="94694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F0F2A-E510-D61E-AE63-AF50BBEC87FF}"/>
              </a:ext>
            </a:extLst>
          </p:cNvPr>
          <p:cNvSpPr txBox="1"/>
          <p:nvPr/>
        </p:nvSpPr>
        <p:spPr>
          <a:xfrm>
            <a:off x="776377" y="1453771"/>
            <a:ext cx="11010900" cy="445795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EEG is a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non-invasive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method to measure brain activity.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EEG-based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seizure detection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 key biomedical DSP task.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EEG’s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non-stationary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nature demands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preprocessing &amp; feature extraction.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DSP provides tools for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time–frequency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domain analysis (e.g.,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convolution, DFT, filtering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EEG data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(CHB-MIT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is preprocessed, features extracted, and prepared for ML seizure classification.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</p:spTree>
    <p:extLst>
      <p:ext uri="{BB962C8B-B14F-4D97-AF65-F5344CB8AC3E}">
        <p14:creationId xmlns:p14="http://schemas.microsoft.com/office/powerpoint/2010/main" val="2037980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400" y="6332938"/>
            <a:ext cx="309832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170751" y="297757"/>
            <a:ext cx="94694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Background: EEG and Seizure Activity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F0F2A-E510-D61E-AE63-AF50BBEC87FF}"/>
              </a:ext>
            </a:extLst>
          </p:cNvPr>
          <p:cNvSpPr txBox="1"/>
          <p:nvPr/>
        </p:nvSpPr>
        <p:spPr>
          <a:xfrm>
            <a:off x="2028645" y="1116515"/>
            <a:ext cx="8341743" cy="501194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EEG records brain’s electrical signals via scalp electrodes.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Typical EEG range: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0.5–70 Hz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divided into standard bands: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nl-NL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Δ (0.5–4 Hz)</a:t>
            </a:r>
            <a:r>
              <a:rPr lang="nl-NL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Deep sleep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θ (4–8 Hz)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Drowsiness/meditation</a:t>
            </a:r>
            <a:endParaRPr lang="nl-NL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 (8–13 Hz)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Relaxed wakefulness</a:t>
            </a:r>
            <a:endParaRPr lang="nl-NL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β (13–30 Hz)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Active focus</a:t>
            </a:r>
            <a:endParaRPr lang="nl-NL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γ (30–70 Hz)</a:t>
            </a:r>
            <a:r>
              <a:rPr lang="it-IT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Cognitive processing</a:t>
            </a:r>
            <a:endParaRPr lang="nl-NL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Seizures: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sudden, synchronized bursts of activity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visible as amplitude spikes &amp; spectral power changes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</p:spTree>
    <p:extLst>
      <p:ext uri="{BB962C8B-B14F-4D97-AF65-F5344CB8AC3E}">
        <p14:creationId xmlns:p14="http://schemas.microsoft.com/office/powerpoint/2010/main" val="23615419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400" y="6332938"/>
            <a:ext cx="309832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144872" y="462457"/>
            <a:ext cx="94694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Methodology: Data Acquisition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F0F2A-E510-D61E-AE63-AF50BBEC87FF}"/>
              </a:ext>
            </a:extLst>
          </p:cNvPr>
          <p:cNvSpPr txBox="1"/>
          <p:nvPr/>
        </p:nvSpPr>
        <p:spPr>
          <a:xfrm>
            <a:off x="1386411" y="1805735"/>
            <a:ext cx="10250623" cy="32465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Dataset: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CHB-MIT Scalp EEG Database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(pediatric epilepsy patients)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Format: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EDF files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multi-channel EEG recordings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Loaded via </a:t>
            </a:r>
            <a:r>
              <a:rPr lang="en-US" sz="28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mne.io.read_raw_edf</a:t>
            </a:r>
            <a:r>
              <a:rPr lang="en-US" sz="28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both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seizure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non-seizure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intervals</a:t>
            </a:r>
            <a:endParaRPr lang="en-US" sz="2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</p:spTree>
    <p:extLst>
      <p:ext uri="{BB962C8B-B14F-4D97-AF65-F5344CB8AC3E}">
        <p14:creationId xmlns:p14="http://schemas.microsoft.com/office/powerpoint/2010/main" val="2040782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400" y="6332938"/>
            <a:ext cx="309832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170751" y="297757"/>
            <a:ext cx="94694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Methodology: Preprocessing Pipeline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F0F2A-E510-D61E-AE63-AF50BBEC87FF}"/>
              </a:ext>
            </a:extLst>
          </p:cNvPr>
          <p:cNvSpPr txBox="1"/>
          <p:nvPr/>
        </p:nvSpPr>
        <p:spPr>
          <a:xfrm>
            <a:off x="1386411" y="2021395"/>
            <a:ext cx="10250623" cy="26001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Notch Filter (60 Hz):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remove power-line noise (IIR notch)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Bandpass FIR Filter (0.5–70 Hz):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isolate standard EEG range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Segmentation: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10-s overlapping epochs for temporal analysis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Normalization: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z-score (zero mean, unit variance) for consistency</a:t>
            </a:r>
            <a:endParaRPr lang="en-US" sz="2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</p:spTree>
    <p:extLst>
      <p:ext uri="{BB962C8B-B14F-4D97-AF65-F5344CB8AC3E}">
        <p14:creationId xmlns:p14="http://schemas.microsoft.com/office/powerpoint/2010/main" val="227308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400" y="6332938"/>
            <a:ext cx="309832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170751" y="468744"/>
            <a:ext cx="94694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Methodology: DSP Operations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F0F2A-E510-D61E-AE63-AF50BBEC87FF}"/>
              </a:ext>
            </a:extLst>
          </p:cNvPr>
          <p:cNvSpPr txBox="1"/>
          <p:nvPr/>
        </p:nvSpPr>
        <p:spPr>
          <a:xfrm>
            <a:off x="1386411" y="2021395"/>
            <a:ext cx="10250623" cy="261212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Correlation: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inter-channel Pearson correlation matrices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Convolution: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moving-average smoothing to reduce fluctuations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Spectral Analysis: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FFT + Welch PSD for frequency and band-power estimation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</p:spTree>
    <p:extLst>
      <p:ext uri="{BB962C8B-B14F-4D97-AF65-F5344CB8AC3E}">
        <p14:creationId xmlns:p14="http://schemas.microsoft.com/office/powerpoint/2010/main" val="2286233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400" y="6332938"/>
            <a:ext cx="309832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104076" y="686144"/>
            <a:ext cx="94694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Methodology: Feature Extraction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F0F2A-E510-D61E-AE63-AF50BBEC87FF}"/>
              </a:ext>
            </a:extLst>
          </p:cNvPr>
          <p:cNvSpPr txBox="1"/>
          <p:nvPr/>
        </p:nvSpPr>
        <p:spPr>
          <a:xfrm>
            <a:off x="1343279" y="1803409"/>
            <a:ext cx="10250623" cy="32465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Band Powers: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mean, std, median in δ, θ, α, β, γ bands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Statistical: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energy, variance, skewness, kurtosis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Spectral Entropy: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Shannon entropy of normalized PSD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Correlation Metrics: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mean, std, max of inter-channel correlations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Band Ratios: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e.g., α / β for cognitive state insight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</p:spTree>
    <p:extLst>
      <p:ext uri="{BB962C8B-B14F-4D97-AF65-F5344CB8AC3E}">
        <p14:creationId xmlns:p14="http://schemas.microsoft.com/office/powerpoint/2010/main" val="705720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399" y="6332938"/>
            <a:ext cx="521899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942151" y="839116"/>
            <a:ext cx="94694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Methodology: Implementation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F0F2A-E510-D61E-AE63-AF50BBEC87FF}"/>
              </a:ext>
            </a:extLst>
          </p:cNvPr>
          <p:cNvSpPr txBox="1"/>
          <p:nvPr/>
        </p:nvSpPr>
        <p:spPr>
          <a:xfrm>
            <a:off x="1472676" y="2036323"/>
            <a:ext cx="10250623" cy="26001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Tools: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3.10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MNE, SciPy, NumPy, pandas, Matplotlib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workflow via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Jupyter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Notebook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 aggregated into </a:t>
            </a:r>
            <a:r>
              <a:rPr lang="en-US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chb_features.csv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Repository: 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github.com/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projectohid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/4142-project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</p:spTree>
    <p:extLst>
      <p:ext uri="{BB962C8B-B14F-4D97-AF65-F5344CB8AC3E}">
        <p14:creationId xmlns:p14="http://schemas.microsoft.com/office/powerpoint/2010/main" val="40204014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399" y="6332938"/>
            <a:ext cx="521899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90680" y="1061883"/>
            <a:ext cx="1161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Results: Spectrogram Analysis (Normal vs. Seizure)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F0F2A-E510-D61E-AE63-AF50BBEC87FF}"/>
              </a:ext>
            </a:extLst>
          </p:cNvPr>
          <p:cNvSpPr txBox="1"/>
          <p:nvPr/>
        </p:nvSpPr>
        <p:spPr>
          <a:xfrm>
            <a:off x="854016" y="2036323"/>
            <a:ext cx="10869284" cy="26001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Normal EEG (Fig. 1) 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Broad spectral power (10–30 Hz, α &amp; β bands)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Seizure EEG (Fig. 2) 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Dominant low-frequency power (&lt;10 Hz, δ &amp; θ)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Confirms effective filtering and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distinct physiological vs. pathological patterns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</p:spTree>
    <p:extLst>
      <p:ext uri="{BB962C8B-B14F-4D97-AF65-F5344CB8AC3E}">
        <p14:creationId xmlns:p14="http://schemas.microsoft.com/office/powerpoint/2010/main" val="31806328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69283" y="6332938"/>
            <a:ext cx="641949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04955" y="352714"/>
            <a:ext cx="1161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Results: Spectrogram Analysis (Normal vs. Seizure)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FED656-DAA7-9A4F-BE77-5E336AEC5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815" y="1271666"/>
            <a:ext cx="8350369" cy="4261206"/>
          </a:xfrm>
          <a:prstGeom prst="rect">
            <a:avLst/>
          </a:prstGeom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1A420F98-CF85-38FC-7DE1-189BCAF735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14982" y="5554472"/>
            <a:ext cx="8021981" cy="4830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algn="ctr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24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Fig. 1: Spectrogram for </a:t>
            </a:r>
            <a:r>
              <a:rPr lang="en-US" sz="2400" b="1" i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Chb01_01.edf</a:t>
            </a:r>
            <a:r>
              <a:rPr lang="en-US" sz="24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(non-seizure).</a:t>
            </a:r>
            <a:endParaRPr lang="en-US" sz="2000" b="1" dirty="0">
              <a:effectLst/>
              <a:latin typeface="Times New Roman" panose="020206030504050203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21678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399" y="6332938"/>
            <a:ext cx="521899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04955" y="352714"/>
            <a:ext cx="1161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Results: Spectrogram Analysis (Normal vs. Seizure)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1A420F98-CF85-38FC-7DE1-189BCAF735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14982" y="5554472"/>
            <a:ext cx="8021981" cy="4830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algn="ctr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24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Fig. 2: Spectrogram for </a:t>
            </a:r>
            <a:r>
              <a:rPr lang="en-US" sz="2400" b="1" i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Chb01_03.edf</a:t>
            </a:r>
            <a:r>
              <a:rPr lang="en-US" sz="24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(</a:t>
            </a:r>
            <a:r>
              <a:rPr lang="en-US" sz="24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seizure).</a:t>
            </a:r>
            <a:endParaRPr lang="en-US" sz="2000" b="1" dirty="0">
              <a:effectLst/>
              <a:latin typeface="Times New Roman" panose="020206030504050203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D588DA-E0A4-575E-2F21-9DB13FCA1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936" y="1109917"/>
            <a:ext cx="8632072" cy="4406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1462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399" y="6332938"/>
            <a:ext cx="521899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04954" y="774840"/>
            <a:ext cx="1161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Results: Raw Vs. Filtered Signal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F0F2A-E510-D61E-AE63-AF50BBEC87FF}"/>
              </a:ext>
            </a:extLst>
          </p:cNvPr>
          <p:cNvSpPr txBox="1"/>
          <p:nvPr/>
        </p:nvSpPr>
        <p:spPr>
          <a:xfrm>
            <a:off x="1178944" y="1799772"/>
            <a:ext cx="9834112" cy="325845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Time-domain (Fig. 3):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Filtered signal smoother; reduced drift &amp; 60 Hz noise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Frequency-domain (Fig. 3):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60 Hz peak suppressed; spectrum confined to 0.5–70 Hz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Verifies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notch + FIR bandpass filters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effectiveness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</p:spTree>
    <p:extLst>
      <p:ext uri="{BB962C8B-B14F-4D97-AF65-F5344CB8AC3E}">
        <p14:creationId xmlns:p14="http://schemas.microsoft.com/office/powerpoint/2010/main" val="16961449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399" y="6332938"/>
            <a:ext cx="521899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04954" y="138999"/>
            <a:ext cx="1161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Results: Raw Vs. Filtered Signal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5CCDD8-7E8D-D38F-359C-73B0C56ACE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614" y="896202"/>
            <a:ext cx="7134046" cy="4740342"/>
          </a:xfrm>
          <a:prstGeom prst="rect">
            <a:avLst/>
          </a:prstGeom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422D4CCD-C54C-5D2E-7E4F-52C72BFC81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7645" y="5746408"/>
            <a:ext cx="9687465" cy="4825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algn="ctr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24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Fig. 3: Raw and filtered Signals and their Spectrums for  </a:t>
            </a:r>
            <a:r>
              <a:rPr lang="en-US" sz="2400" b="1" i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Chb01_01.edf</a:t>
            </a:r>
            <a:r>
              <a:rPr lang="en-US" sz="24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.</a:t>
            </a:r>
            <a:endParaRPr lang="en-US" sz="2400" b="1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42455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399" y="6332938"/>
            <a:ext cx="521899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-155996" y="428785"/>
            <a:ext cx="1161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Results: EEG Band Power Distribution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F0F2A-E510-D61E-AE63-AF50BBEC87FF}"/>
              </a:ext>
            </a:extLst>
          </p:cNvPr>
          <p:cNvSpPr txBox="1"/>
          <p:nvPr/>
        </p:nvSpPr>
        <p:spPr>
          <a:xfrm>
            <a:off x="409756" y="1434967"/>
            <a:ext cx="4602192" cy="4539191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hierarchy: 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l-GR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Δ &gt; θ &gt; β &gt; γ &gt; α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Low-frequency dominance → seizure or drowsy state indicator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Confirms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spectral accuracy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feature extraction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1F331143-021D-1204-41CB-AC1E246ED5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58928" y="5358714"/>
            <a:ext cx="5922118" cy="90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algn="ctr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24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Fig. 4: Average Band Power Across EEG Frequency Bands for  </a:t>
            </a:r>
            <a:r>
              <a:rPr lang="en-US" sz="2400" b="1" i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Chb01_01.edf</a:t>
            </a:r>
            <a:r>
              <a:rPr lang="en-US" sz="24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.</a:t>
            </a:r>
            <a:endParaRPr lang="en-US" sz="2400" b="1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12393E-347F-5B3D-B6C8-770B03784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4257" y="1405928"/>
            <a:ext cx="6206789" cy="3849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0904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399" y="6332938"/>
            <a:ext cx="521899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04955" y="221471"/>
            <a:ext cx="1161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Results: Time-Domain Statistical Features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F0F2A-E510-D61E-AE63-AF50BBEC87FF}"/>
              </a:ext>
            </a:extLst>
          </p:cNvPr>
          <p:cNvSpPr txBox="1"/>
          <p:nvPr/>
        </p:nvSpPr>
        <p:spPr>
          <a:xfrm>
            <a:off x="389985" y="1243475"/>
            <a:ext cx="4595363" cy="4539191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kurtosis: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sharp, transient seizure spikes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skewness: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symmetric yet with frequent outliers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Confirms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impulsive, non-Gaussian EEG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patterns in seizures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013734-9282-50D7-9BAF-1218CB9163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6552" y="1047749"/>
            <a:ext cx="6477000" cy="4281267"/>
          </a:xfrm>
          <a:prstGeom prst="rect">
            <a:avLst/>
          </a:prstGeom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F873595B-FB58-0498-77AF-AF2B9A2C98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86552" y="5329016"/>
            <a:ext cx="6636746" cy="90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algn="ctr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24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Fig. 5: Distribution of Statistical Time-Domain Features for  </a:t>
            </a:r>
            <a:r>
              <a:rPr lang="en-US" sz="2400" b="1" i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Chb01_01.edf</a:t>
            </a:r>
            <a:r>
              <a:rPr lang="en-US" sz="24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.</a:t>
            </a:r>
            <a:endParaRPr lang="en-US" sz="2400" b="1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85593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399" y="6332938"/>
            <a:ext cx="521899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04955" y="221471"/>
            <a:ext cx="1161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Results: Spectral Entropy vs. Delta Power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F0F2A-E510-D61E-AE63-AF50BBEC87FF}"/>
              </a:ext>
            </a:extLst>
          </p:cNvPr>
          <p:cNvSpPr txBox="1"/>
          <p:nvPr/>
        </p:nvSpPr>
        <p:spPr>
          <a:xfrm>
            <a:off x="392537" y="1184541"/>
            <a:ext cx="4554634" cy="4821769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Negative correlation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higher δ power = lower entropy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Indicates 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reduced complexity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during seizure activity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Validates 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entropy as nonlinear brain state marker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FD59E4D8-E7D1-9EA6-539E-012F0700FB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67350" y="5484827"/>
            <a:ext cx="6619695" cy="7714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algn="ctr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20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Fig. 6: Spectral Entropy vs. Delta Band Power for  </a:t>
            </a:r>
            <a:r>
              <a:rPr lang="en-US" sz="2000" b="1" i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Chb01_01.edf</a:t>
            </a:r>
            <a:r>
              <a:rPr lang="en-US" sz="20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.</a:t>
            </a:r>
            <a:endParaRPr lang="en-US" sz="2000" b="1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392A061-530D-F1CE-403D-8820E54345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342" y="987426"/>
            <a:ext cx="5555932" cy="4613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8256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399" y="6332938"/>
            <a:ext cx="521899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04955" y="221471"/>
            <a:ext cx="1161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Results: Inter-Channel Correlation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F0F2A-E510-D61E-AE63-AF50BBEC87FF}"/>
              </a:ext>
            </a:extLst>
          </p:cNvPr>
          <p:cNvSpPr txBox="1"/>
          <p:nvPr/>
        </p:nvSpPr>
        <p:spPr>
          <a:xfrm>
            <a:off x="392537" y="1184541"/>
            <a:ext cx="4560464" cy="4539191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 correlation ≈ 1.0: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strong cross-channel synchronization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Consistent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mean correlation = stable phase coupling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Demonstrates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spatial coherence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seizure EEG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A3DB2D-C3B3-2426-21A4-A41447ECD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3767" y="877689"/>
            <a:ext cx="5968048" cy="4451885"/>
          </a:xfrm>
          <a:prstGeom prst="rect">
            <a:avLst/>
          </a:prstGeom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870BBA69-B2D0-8FEE-9541-B58CAEEFB0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9346" y="5372437"/>
            <a:ext cx="7022654" cy="9077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algn="ctr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24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Fig. 7: Distribution of Inter-Channel Correlation Metrics for  </a:t>
            </a:r>
            <a:r>
              <a:rPr lang="en-US" sz="2400" b="1" i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Chb01_01.edf</a:t>
            </a:r>
            <a:r>
              <a:rPr lang="en-US" sz="24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.</a:t>
            </a:r>
          </a:p>
        </p:txBody>
      </p:sp>
    </p:spTree>
    <p:extLst>
      <p:ext uri="{BB962C8B-B14F-4D97-AF65-F5344CB8AC3E}">
        <p14:creationId xmlns:p14="http://schemas.microsoft.com/office/powerpoint/2010/main" val="26933590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399" y="6332938"/>
            <a:ext cx="521899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04955" y="221471"/>
            <a:ext cx="1161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Results: Feature Matrix &amp; ML Readiness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F0F2A-E510-D61E-AE63-AF50BBEC87FF}"/>
              </a:ext>
            </a:extLst>
          </p:cNvPr>
          <p:cNvSpPr txBox="1"/>
          <p:nvPr/>
        </p:nvSpPr>
        <p:spPr>
          <a:xfrm>
            <a:off x="1737064" y="4446666"/>
            <a:ext cx="8717872" cy="1820948"/>
          </a:xfrm>
          <a:prstGeom prst="rect">
            <a:avLst/>
          </a:prstGeom>
          <a:noFill/>
          <a:ln w="31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10 s epoch → 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30+ DSP-based features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Seizure/non-seizure epochs clearly separable in feature space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Confirms 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pipeline suitability for neural network models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87F62E6-8982-292C-FA1B-037CBC6EF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11" y="1413986"/>
            <a:ext cx="11891834" cy="2601339"/>
          </a:xfrm>
          <a:prstGeom prst="rect">
            <a:avLst/>
          </a:prstGeom>
          <a:ln w="22225">
            <a:noFill/>
          </a:ln>
        </p:spPr>
      </p:pic>
      <p:sp>
        <p:nvSpPr>
          <p:cNvPr id="10" name="Text Box 2">
            <a:extLst>
              <a:ext uri="{FF2B5EF4-FFF2-40B4-BE49-F238E27FC236}">
                <a16:creationId xmlns:a16="http://schemas.microsoft.com/office/drawing/2014/main" id="{CEDB9E6A-B5CE-5DC6-D428-BF56C11A34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7739" y="877689"/>
            <a:ext cx="8969930" cy="4830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algn="ctr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24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Table I: Part of the extracted Feature Matrix for  </a:t>
            </a:r>
            <a:r>
              <a:rPr lang="en-US" sz="2400" b="1" i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Chb01_01.edf</a:t>
            </a:r>
            <a:r>
              <a:rPr lang="en-US" sz="2400" b="1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.</a:t>
            </a:r>
          </a:p>
        </p:txBody>
      </p:sp>
    </p:spTree>
    <p:extLst>
      <p:ext uri="{BB962C8B-B14F-4D97-AF65-F5344CB8AC3E}">
        <p14:creationId xmlns:p14="http://schemas.microsoft.com/office/powerpoint/2010/main" val="7714515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399" y="6332938"/>
            <a:ext cx="521899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21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04955" y="221471"/>
            <a:ext cx="1161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Results: 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E4349C5-5C18-90CC-334F-A3ACBF1BCC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941619"/>
              </p:ext>
            </p:extLst>
          </p:nvPr>
        </p:nvGraphicFramePr>
        <p:xfrm>
          <a:off x="704850" y="1175385"/>
          <a:ext cx="10782300" cy="4675318"/>
        </p:xfrm>
        <a:graphic>
          <a:graphicData uri="http://schemas.openxmlformats.org/drawingml/2006/table">
            <a:tbl>
              <a:tblPr bandRow="1">
                <a:tableStyleId>{8EC20E35-A176-4012-BC5E-935CFFF8708E}</a:tableStyleId>
              </a:tblPr>
              <a:tblGrid>
                <a:gridCol w="2825152">
                  <a:extLst>
                    <a:ext uri="{9D8B030D-6E8A-4147-A177-3AD203B41FA5}">
                      <a16:colId xmlns:a16="http://schemas.microsoft.com/office/drawing/2014/main" val="2337004936"/>
                    </a:ext>
                  </a:extLst>
                </a:gridCol>
                <a:gridCol w="4363048">
                  <a:extLst>
                    <a:ext uri="{9D8B030D-6E8A-4147-A177-3AD203B41FA5}">
                      <a16:colId xmlns:a16="http://schemas.microsoft.com/office/drawing/2014/main" val="3441652639"/>
                    </a:ext>
                  </a:extLst>
                </a:gridCol>
                <a:gridCol w="3594100">
                  <a:extLst>
                    <a:ext uri="{9D8B030D-6E8A-4147-A177-3AD203B41FA5}">
                      <a16:colId xmlns:a16="http://schemas.microsoft.com/office/drawing/2014/main" val="27274428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Domain</a:t>
                      </a:r>
                      <a:endParaRPr lang="en-US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Observation</a:t>
                      </a:r>
                      <a:endParaRPr lang="en-US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DSP Technique</a:t>
                      </a:r>
                      <a:endParaRPr lang="en-US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57361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Spectrograms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Low-frequency dominance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STFT / Spectrogram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498013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Filtering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Removed 60 Hz &amp; artifacts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Notch + FIR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104958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Band Power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 δ, θ; low α, β, γ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FFT + PSD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72495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Statistics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 kurtosis, low skewness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Time-domain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61862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Entropy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−ve correlation with δ power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Entropy calc.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13562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Correlation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Strong inter-channel sync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Pearson corr.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3411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Feature Set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Clear seizure separation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DSP feature extraction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210948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33864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399" y="6332938"/>
            <a:ext cx="521899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22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04955" y="149894"/>
            <a:ext cx="11618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Discussion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F8AB75-FC81-0C0A-1AA3-ED8197E2B8EE}"/>
              </a:ext>
            </a:extLst>
          </p:cNvPr>
          <p:cNvSpPr txBox="1"/>
          <p:nvPr/>
        </p:nvSpPr>
        <p:spPr>
          <a:xfrm>
            <a:off x="752474" y="826307"/>
            <a:ext cx="11334571" cy="51658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Spectral Behavior</a:t>
            </a:r>
          </a:p>
          <a:p>
            <a:pPr marL="742950" lvl="1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Normal EEG: broad power (10–30 Hz, α–β bands)</a:t>
            </a:r>
            <a:endParaRPr lang="en-US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Seizure EEG: strong low-freq. dominance (&lt;10 Hz, δ–θ)</a:t>
            </a:r>
            <a:endParaRPr lang="en-US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Confirms 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shift from desynchronized → synchronized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neuronal activity</a:t>
            </a:r>
            <a:endParaRPr lang="en-US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Filtering (notch + bandpass) effectively removed 60 Hz noise &amp; drift while preserving core EEG content</a:t>
            </a:r>
          </a:p>
          <a:p>
            <a:pPr marL="285750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Band Power Trends</a:t>
            </a:r>
          </a:p>
          <a:p>
            <a:pPr marL="742950" lvl="1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nl-NL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Hierarchy: </a:t>
            </a:r>
            <a:r>
              <a:rPr lang="nl-NL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Δ &gt; θ &gt; β &gt; γ &gt; α</a:t>
            </a:r>
            <a:endParaRPr lang="en-US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α/β ratio &amp; reduced high-freq. power → decreased cortical processing during seizures</a:t>
            </a:r>
            <a:endParaRPr lang="en-US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293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399" y="6332938"/>
            <a:ext cx="521899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23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04955" y="149894"/>
            <a:ext cx="11618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Discussion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F8AB75-FC81-0C0A-1AA3-ED8197E2B8EE}"/>
              </a:ext>
            </a:extLst>
          </p:cNvPr>
          <p:cNvSpPr txBox="1"/>
          <p:nvPr/>
        </p:nvSpPr>
        <p:spPr>
          <a:xfrm>
            <a:off x="752474" y="826307"/>
            <a:ext cx="11334571" cy="491410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Time-Domain Statistics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kurtosis: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sharp epileptic transients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skewness: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symmetric but heavy-tailed amplitude distribution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Indicates</a:t>
            </a:r>
            <a:r>
              <a:rPr lang="fr-FR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impulsive, non-</a:t>
            </a:r>
            <a:r>
              <a:rPr lang="fr-FR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Gaussian</a:t>
            </a:r>
            <a:r>
              <a:rPr lang="fr-FR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seizure</a:t>
            </a:r>
            <a:r>
              <a:rPr lang="fr-FR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morphology</a:t>
            </a:r>
            <a:endParaRPr lang="en-US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Entropy &amp; Complexity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Entropy ↓ as Δ-power ↑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reduced signal complexity during seizures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Captures transition to 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predictable, synchronized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brain dynamics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Entropy = nonlinear complement to power-based metrics</a:t>
            </a:r>
          </a:p>
        </p:txBody>
      </p:sp>
    </p:spTree>
    <p:extLst>
      <p:ext uri="{BB962C8B-B14F-4D97-AF65-F5344CB8AC3E}">
        <p14:creationId xmlns:p14="http://schemas.microsoft.com/office/powerpoint/2010/main" val="285096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399" y="6332938"/>
            <a:ext cx="521899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24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04955" y="149894"/>
            <a:ext cx="11618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Discussion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F8AB75-FC81-0C0A-1AA3-ED8197E2B8EE}"/>
              </a:ext>
            </a:extLst>
          </p:cNvPr>
          <p:cNvSpPr txBox="1"/>
          <p:nvPr/>
        </p:nvSpPr>
        <p:spPr>
          <a:xfrm>
            <a:off x="752474" y="826307"/>
            <a:ext cx="11334571" cy="51658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Inter-Channel Correlation</a:t>
            </a:r>
          </a:p>
          <a:p>
            <a:pPr marL="742950" lvl="1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cross-channel correlation (≈1.0)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strong spatial coherence</a:t>
            </a:r>
          </a:p>
          <a:p>
            <a:pPr marL="742950" lvl="1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Reflects widespread cortical synchronization in seizure states</a:t>
            </a:r>
          </a:p>
          <a:p>
            <a:pPr marL="285750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Integrated DSP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Takeways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Filtering: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ensures clean, physiologically valid signals</a:t>
            </a:r>
          </a:p>
          <a:p>
            <a:pPr marL="742950" lvl="1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FFT / PSD: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reveal spectral composition</a:t>
            </a:r>
          </a:p>
          <a:p>
            <a:pPr marL="742950" lvl="1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Statistics + Entropy: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quantify morphology &amp; complexity</a:t>
            </a:r>
          </a:p>
          <a:p>
            <a:pPr marL="742950" lvl="1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Correlation: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captures spatial coupling → Together, 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classical DSP techniques uncover physiological + pathological EEG patterns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producing interpretable features for intelligent seizure detection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573863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399" y="6332938"/>
            <a:ext cx="521899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04955" y="149894"/>
            <a:ext cx="11618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F8AB75-FC81-0C0A-1AA3-ED8197E2B8EE}"/>
              </a:ext>
            </a:extLst>
          </p:cNvPr>
          <p:cNvSpPr txBox="1"/>
          <p:nvPr/>
        </p:nvSpPr>
        <p:spPr>
          <a:xfrm>
            <a:off x="752474" y="826307"/>
            <a:ext cx="11334571" cy="56848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DSP methods effectively applied for EEG seizure analysis.</a:t>
            </a:r>
          </a:p>
          <a:p>
            <a:pPr marL="285750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Filtering + spectral + statistical tools made EEG 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interpretable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Points:</a:t>
            </a:r>
          </a:p>
          <a:p>
            <a:pPr marL="742950" lvl="1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Preprocessing: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Notch &amp; FIR filters removed noise, kept key signals.</a:t>
            </a:r>
          </a:p>
          <a:p>
            <a:pPr marL="742950" lvl="1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Spectral: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Clear normal–seizure separation (low-</a:t>
            </a:r>
            <a:r>
              <a:rPr lang="en-US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freq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dominance).</a:t>
            </a:r>
          </a:p>
          <a:p>
            <a:pPr marL="742950" lvl="1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Stats: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High kurtosis, low entropy → synchronized seizure waves.</a:t>
            </a:r>
          </a:p>
          <a:p>
            <a:pPr marL="742950" lvl="1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Correlation: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Strong inter-channel coupling during seizures.</a:t>
            </a:r>
          </a:p>
          <a:p>
            <a:pPr marL="742950" lvl="1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Features: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Compact, ML-ready dataset for classification.</a:t>
            </a:r>
          </a:p>
          <a:p>
            <a:pPr marL="285750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Takeaway: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DSP bridges theory &amp; application, enabling explainable EEG systems.</a:t>
            </a:r>
          </a:p>
          <a:p>
            <a:pPr marL="285750" indent="-28575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83094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399" y="6332938"/>
            <a:ext cx="521899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26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04954" y="711869"/>
            <a:ext cx="11618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F8AB75-FC81-0C0A-1AA3-ED8197E2B8EE}"/>
              </a:ext>
            </a:extLst>
          </p:cNvPr>
          <p:cNvSpPr txBox="1"/>
          <p:nvPr/>
        </p:nvSpPr>
        <p:spPr>
          <a:xfrm>
            <a:off x="1223962" y="2290315"/>
            <a:ext cx="9744076" cy="26001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Wavelet Filters: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Handle dynamic, non-stationary EEG noise.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ICA Cleaning: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Remove eye/muscle artifacts.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Train models on DSP-derived features.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Automation: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Streamline preprocessing &amp; feature selection.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80270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04955" y="6323050"/>
            <a:ext cx="11982090" cy="0"/>
          </a:xfrm>
          <a:prstGeom prst="line">
            <a:avLst/>
          </a:prstGeom>
          <a:ln>
            <a:solidFill>
              <a:schemeClr val="accent1">
                <a:alpha val="23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399" y="6332938"/>
            <a:ext cx="521899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27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FC8B5-DA0E-C885-19E5-3FD0353E1B8C}"/>
              </a:ext>
            </a:extLst>
          </p:cNvPr>
          <p:cNvSpPr txBox="1"/>
          <p:nvPr/>
        </p:nvSpPr>
        <p:spPr>
          <a:xfrm>
            <a:off x="104955" y="435644"/>
            <a:ext cx="11618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333D9B-9953-99B0-4043-F4C4FE298994}"/>
              </a:ext>
            </a:extLst>
          </p:cNvPr>
          <p:cNvSpPr txBox="1"/>
          <p:nvPr/>
        </p:nvSpPr>
        <p:spPr>
          <a:xfrm>
            <a:off x="776377" y="6433923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F8AB75-FC81-0C0A-1AA3-ED8197E2B8EE}"/>
              </a:ext>
            </a:extLst>
          </p:cNvPr>
          <p:cNvSpPr txBox="1"/>
          <p:nvPr/>
        </p:nvSpPr>
        <p:spPr>
          <a:xfrm>
            <a:off x="719138" y="1594990"/>
            <a:ext cx="10753724" cy="33662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[1]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L. Tan and J. Jiang,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Digital Signal Processing: Fundamentals and Applications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3rd ed. Elsevier Science, 2018.</a:t>
            </a:r>
            <a:endParaRPr lang="en-US" sz="18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marL="0" marR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M.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Teplan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“Fundamentals of EEG measurement,”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Measurement Science Review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vol. 2, no. 2, pp. 1–11, 2002.</a:t>
            </a:r>
            <a:endParaRPr lang="en-US" sz="18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marL="0" marR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[3]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H.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Adeli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Z. Zhou, and N.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Dadmehr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“Analysis of EEG records in an epileptic patient using wavelet transform,”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Journal of Neuroscience Methods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vol. 123, no. 1, pp. 69–87, 2003.</a:t>
            </a:r>
            <a:endParaRPr lang="en-US" sz="18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marL="0" marR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[4]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U. R. Acharya, S. V. Sree, G. Swapna, R. J.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Martis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and J. S. Suri, “Automated EEG analysis of epilepsy: A review,”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Knowledge-Based Systems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vol. 45, pp. 147–165, 2013.</a:t>
            </a:r>
            <a:endParaRPr lang="en-US" sz="18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marL="0" marR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[5]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A.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Aarabi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R. Fazel-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Rezai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and Y.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Aghakhani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“EEG seizure prediction: Measures and challenges,”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Computers in Biology and Medicine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vol. 42, no. 4, pp. 376–390, 2012.</a:t>
            </a:r>
            <a:endParaRPr lang="en-US" sz="1800" dirty="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11979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een and white sign with a book and text&#10;&#10;AI-generated content may be incorrect.">
            <a:extLst>
              <a:ext uri="{FF2B5EF4-FFF2-40B4-BE49-F238E27FC236}">
                <a16:creationId xmlns:a16="http://schemas.microsoft.com/office/drawing/2014/main" id="{8B79063B-F3B2-A169-2D6F-93B1A0E4E4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221" y="6058374"/>
            <a:ext cx="565812" cy="642128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6329C6-0B4F-247C-4BEC-D9201F7C5115}"/>
              </a:ext>
            </a:extLst>
          </p:cNvPr>
          <p:cNvCxnSpPr/>
          <p:nvPr/>
        </p:nvCxnSpPr>
        <p:spPr>
          <a:xfrm>
            <a:off x="138023" y="5909094"/>
            <a:ext cx="1198209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156987-E139-AA15-847F-085D64025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87099" y="6207724"/>
            <a:ext cx="676275" cy="365125"/>
          </a:xfrm>
          <a:solidFill>
            <a:schemeClr val="bg1">
              <a:lumMod val="95000"/>
            </a:schemeClr>
          </a:solidFill>
          <a:ln w="15875">
            <a:noFill/>
          </a:ln>
          <a:effectLst>
            <a:softEdge rad="76200"/>
          </a:effectLst>
        </p:spPr>
        <p:txBody>
          <a:bodyPr/>
          <a:lstStyle/>
          <a:p>
            <a:fld id="{56068ECD-D36E-4BCC-ACC4-6104BF1AB637}" type="slidenum">
              <a:rPr lang="en-US" sz="2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28</a:t>
            </a:fld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77B0C3-5711-195B-4F75-7D59975BC897}"/>
              </a:ext>
            </a:extLst>
          </p:cNvPr>
          <p:cNvSpPr txBox="1"/>
          <p:nvPr/>
        </p:nvSpPr>
        <p:spPr>
          <a:xfrm>
            <a:off x="1696501" y="6102438"/>
            <a:ext cx="512699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Department of </a:t>
            </a:r>
            <a:r>
              <a:rPr lang="en-US" sz="1400" b="1" dirty="0" err="1"/>
              <a:t>Elecctrical</a:t>
            </a:r>
            <a:r>
              <a:rPr lang="en-US" sz="1400" b="1" dirty="0"/>
              <a:t> &amp; Electronic Engineering</a:t>
            </a:r>
          </a:p>
          <a:p>
            <a:r>
              <a:rPr lang="en-US" sz="1600" b="1" dirty="0"/>
              <a:t>Khulna University of Engineering &amp; Technology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76C035-95F4-F84D-EE0C-8CF091BC597E}"/>
              </a:ext>
            </a:extLst>
          </p:cNvPr>
          <p:cNvSpPr txBox="1"/>
          <p:nvPr/>
        </p:nvSpPr>
        <p:spPr>
          <a:xfrm>
            <a:off x="3664168" y="1842350"/>
            <a:ext cx="486366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BA8A76-BEF9-3B9A-3559-CA9A688AF057}"/>
              </a:ext>
            </a:extLst>
          </p:cNvPr>
          <p:cNvSpPr txBox="1"/>
          <p:nvPr/>
        </p:nvSpPr>
        <p:spPr>
          <a:xfrm>
            <a:off x="4037827" y="2972313"/>
            <a:ext cx="411634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Any Questions?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5A452F-8F22-F71D-E5CF-07E079670D6F}"/>
              </a:ext>
            </a:extLst>
          </p:cNvPr>
          <p:cNvSpPr txBox="1"/>
          <p:nvPr/>
        </p:nvSpPr>
        <p:spPr>
          <a:xfrm>
            <a:off x="6676845" y="6207724"/>
            <a:ext cx="3786954" cy="307777"/>
          </a:xfrm>
          <a:prstGeom prst="rect">
            <a:avLst/>
          </a:prstGeom>
          <a:solidFill>
            <a:schemeClr val="bg2">
              <a:lumMod val="90000"/>
              <a:alpha val="25000"/>
            </a:schemeClr>
          </a:solidFill>
          <a:ln cap="rnd"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 4142 – Sessional on Digital Signal Processing</a:t>
            </a:r>
          </a:p>
        </p:txBody>
      </p:sp>
    </p:spTree>
    <p:extLst>
      <p:ext uri="{BB962C8B-B14F-4D97-AF65-F5344CB8AC3E}">
        <p14:creationId xmlns:p14="http://schemas.microsoft.com/office/powerpoint/2010/main" val="16040681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2600</TotalTime>
  <Words>1784</Words>
  <Application>Microsoft Office PowerPoint</Application>
  <PresentationFormat>Widescreen</PresentationFormat>
  <Paragraphs>243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Aptos</vt:lpstr>
      <vt:lpstr>Aptos Display</vt:lpstr>
      <vt:lpstr>Arial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nonexistentpseudoblessing@outlook.com</dc:creator>
  <cp:lastModifiedBy>nonexistentpseudoblessing@outlook.com</cp:lastModifiedBy>
  <cp:revision>633</cp:revision>
  <dcterms:created xsi:type="dcterms:W3CDTF">2025-09-01T11:58:43Z</dcterms:created>
  <dcterms:modified xsi:type="dcterms:W3CDTF">2025-11-01T12:53:34Z</dcterms:modified>
</cp:coreProperties>
</file>