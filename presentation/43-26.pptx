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64" r:id="rId3"/>
    <p:sldId id="265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2" r:id="rId17"/>
    <p:sldId id="301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26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97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2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26430-DC23-4E34-874E-0F4DD2CDFD3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EC19D-FF60-40E9-8CDC-F43A76F71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7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7838-C90C-2E06-0BA4-C4BCBF9C2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AD288-A76E-8365-80B5-B0004D2ED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0C85A-5521-AF14-B02B-2ABD7B0FD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1746-4762-4E30-8686-CC843C670C21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BE6AA-20FB-5823-57C4-871485EE9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EBE13-3B50-A804-AB50-C190DA18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6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D0330-ABEC-B63E-34B7-B2B3ADC8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64348-63DE-4ACD-D587-36398CAC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69E3E-893C-7321-2EFA-058020A0C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CE2C0-8190-47EF-A25F-756B421A601D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71588-8A39-650D-3952-F1BD1F9E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FB80A-5459-F75E-C192-4604C1FE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1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BFE41-AADB-A179-89DF-DA5A74A1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A68E1-B1B9-29B8-BE13-2A1724C1B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79A0B-62BE-8F09-CF03-4EB47824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7A3A-17E2-4339-B83D-5CB0C22DDBC1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F4F40-C213-D912-04B7-6ECEB4AA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C33B7-112A-CADF-C523-C4661797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7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8058-B4D9-4B06-AB94-20EDB4007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79306-99E3-CF3E-A45C-89A870F615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93507-07B9-F1BA-8644-37E2927A3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4BC1F-204B-C6F7-9F26-BF711B36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F3CC-A6B7-4568-9B9F-CAE052DB577B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9DD8A-4863-8A06-FD60-E8C6B270D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30F8C-7028-6A8D-2EC7-5EFDAA9C4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6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27D47-4CE1-8E28-4575-482EA289F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B195E-4052-974A-0A44-F955E0AED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28F6C-D73E-38D0-2008-AA2E4AB6D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2444CA-54DD-5105-004C-FFAC96B7A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43F18-5611-7E79-5467-EEDBE718F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80112-2CBA-94C1-FF18-762949991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D1FEA-C4BA-4A7D-BCCB-EC9B81660636}" type="datetime1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3BD28F-D07B-8DD2-23AC-B558EE73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10530B-8AE6-579F-5926-85529B2B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46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A5057-72B7-538A-A2AD-473E799E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5ECD11-3E30-F4A6-8A41-4BDEC84F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68465-0305-4B11-9346-BB60CF967812}" type="datetime1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CC67C-E8C0-1346-B968-3A7B6B425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FE503-138F-27C3-BC81-F2C90F22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3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AE535-6129-CB87-2096-BDC326AA2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19D5E-A7CE-49D4-80E8-0F4FFBF0816E}" type="datetime1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2E96D-5311-AFD6-CA04-4952B551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85615-7A45-60EE-A8B1-954B5DEE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79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4DD8-3879-D498-DD9B-11F96519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95EC4-53EA-93CA-2B65-C14032E28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538F0-07AA-64AF-4950-6E6EF191C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D4FE2-2973-F8BA-E16D-59120BB3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17A2-9207-4B43-A1B7-DF9AE996D68B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A84C5-BF0A-057C-3C24-1FF38B7C3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F8141-059A-5241-2F3C-4D9E3A6B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55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9974A-A50E-A798-7402-D4F2DE7E1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2368D0-4EC0-8F93-E146-451026DD3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992AE-E090-ADC5-034F-EACA87091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26FF5-E1D3-FD25-9F7A-867E808B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F2193-67AA-4B79-BB3A-CB09E85542E5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192AB-B07C-8C33-25B1-6DD691E4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5B684-0EA2-CB91-6964-A7D53E2B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0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0C4F-9AAF-A5F1-FAC6-E7898D66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2BB70-A50F-B8FB-8790-48327C202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9FA31-0763-5120-9B2F-675ABCBC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14DD-1CDD-4EB3-90A2-115373800CBA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6D325-AE4C-7085-70EF-0EEC7E9E6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A7FAE-DE26-7804-DF24-431C8DD53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73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35DDF7-2A2C-7299-638E-6002E5792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8344D-880F-E3F3-AC26-7E408B0F6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3D5AF-5BD7-8CEE-6A63-F3CB26A04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AF497-C8E7-42F8-8299-EABFF01C7591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74ED6-43D9-2B40-371D-3375E4BA1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575AC-7A0E-FB07-497B-F736C8A30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5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F80BAC-AED8-19CD-9366-0A0A9E8C0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605FB-CBC7-1FFE-BA43-B62101188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17745-6551-D77E-BEA4-588691BFA0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B28F1-0A97-48C1-AA81-C22E1BE28CD5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3AD78-1008-8B00-D751-9A8458459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40292-73BB-AF23-A4A1-8442E2C54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2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ojectohid/4142-project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sign with a book and text&#10;&#10;AI-generated content may be incorrect.">
            <a:extLst>
              <a:ext uri="{FF2B5EF4-FFF2-40B4-BE49-F238E27FC236}">
                <a16:creationId xmlns:a16="http://schemas.microsoft.com/office/drawing/2014/main" id="{8B79063B-F3B2-A169-2D6F-93B1A0E4E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68" y="6056190"/>
            <a:ext cx="565812" cy="64212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38023" y="5909094"/>
            <a:ext cx="11982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207724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77B0C3-5711-195B-4F75-7D59975BC897}"/>
              </a:ext>
            </a:extLst>
          </p:cNvPr>
          <p:cNvSpPr txBox="1"/>
          <p:nvPr/>
        </p:nvSpPr>
        <p:spPr>
          <a:xfrm>
            <a:off x="1546348" y="6100254"/>
            <a:ext cx="52405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Elecctrical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Electronic Engineering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Khulna University of Engineering &amp; Technology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372A4C-9F69-B680-8444-8B9216087A20}"/>
              </a:ext>
            </a:extLst>
          </p:cNvPr>
          <p:cNvSpPr txBox="1"/>
          <p:nvPr/>
        </p:nvSpPr>
        <p:spPr>
          <a:xfrm>
            <a:off x="990804" y="945788"/>
            <a:ext cx="102103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Bridging Signal and Intelligence: A DSP-Driven EEG Feature Pipeline for Neural Network Seizure Detection</a:t>
            </a:r>
            <a:endParaRPr lang="en-US" sz="3600" b="1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ctr"/>
            <a:endParaRPr lang="en-US" sz="3600" b="1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8F6EF9-3364-426D-24C3-D39891C33B48}"/>
              </a:ext>
            </a:extLst>
          </p:cNvPr>
          <p:cNvSpPr txBox="1"/>
          <p:nvPr/>
        </p:nvSpPr>
        <p:spPr>
          <a:xfrm>
            <a:off x="876709" y="3198948"/>
            <a:ext cx="43077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Ohiduzzaman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Sajol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(2003043)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Durjoy Sarkar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Dhrubo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(2003026)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67B3F6-A4B9-3B88-6EC4-2F1FA2BC5E2D}"/>
              </a:ext>
            </a:extLst>
          </p:cNvPr>
          <p:cNvSpPr txBox="1"/>
          <p:nvPr/>
        </p:nvSpPr>
        <p:spPr>
          <a:xfrm>
            <a:off x="6676845" y="6207724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00C0DC-B7B8-3981-E1EA-4C808D475219}"/>
              </a:ext>
            </a:extLst>
          </p:cNvPr>
          <p:cNvSpPr txBox="1"/>
          <p:nvPr/>
        </p:nvSpPr>
        <p:spPr>
          <a:xfrm>
            <a:off x="5033357" y="4703218"/>
            <a:ext cx="21252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On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 2, 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B9AD50-750C-6EAD-AE49-AE06136E8714}"/>
              </a:ext>
            </a:extLst>
          </p:cNvPr>
          <p:cNvSpPr txBox="1"/>
          <p:nvPr/>
        </p:nvSpPr>
        <p:spPr>
          <a:xfrm>
            <a:off x="6934250" y="3198948"/>
            <a:ext cx="4307766" cy="99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To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Dr.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Monira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Islam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Associate Professor,  Dept. of EEE, KUET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909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193756"/>
            <a:ext cx="11982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207724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739927" y="290132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074569-912B-880D-75CC-46FE8A0886BB}"/>
              </a:ext>
            </a:extLst>
          </p:cNvPr>
          <p:cNvSpPr txBox="1"/>
          <p:nvPr/>
        </p:nvSpPr>
        <p:spPr>
          <a:xfrm>
            <a:off x="4430613" y="1657565"/>
            <a:ext cx="3330772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5BC8DA-C4BE-4893-3457-656E41CD0998}"/>
              </a:ext>
            </a:extLst>
          </p:cNvPr>
          <p:cNvSpPr txBox="1"/>
          <p:nvPr/>
        </p:nvSpPr>
        <p:spPr>
          <a:xfrm>
            <a:off x="1223443" y="6360162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652537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32938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1" y="297757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2244307" y="1669594"/>
            <a:ext cx="8395943" cy="32465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DSP-based EEG pipeline for seizure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CHB-MIT dataset with notch &amp; bandpass filters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spectral &amp; statistical EEG 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raw vs. filtered &amp; frequency spectra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ready for ML seizure classification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4186397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32938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1" y="297757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776377" y="1453771"/>
            <a:ext cx="11010900" cy="44579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non-invasive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to measure brain activity.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EEG-based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 detection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key biomedical DSP task.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EEG’s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non-stationary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nature demands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preprocessing &amp; feature extraction.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DSP provides tools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time–frequency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analysis (e.g.,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convolution, DFT, filtering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 data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(CHB-MIT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preprocessed, features extracted, and prepared for ML seizure classification.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2037980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32938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1" y="297757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Background: EEG and Seizure Activity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2028645" y="1116515"/>
            <a:ext cx="8341743" cy="50119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 records brain’s electrical signals via scalp electrodes.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EEG range: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0.5–70 Hz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divided into standard bands: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 (0.5–4 Hz)</a:t>
            </a:r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Deep sleep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(4–8 Hz)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Drowsiness/meditation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(8–13 Hz)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Relaxed wakefulness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 (13–30 Hz)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Active focus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 (30–70 Hz)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Cognitive processing</a:t>
            </a:r>
            <a:endParaRPr lang="nl-NL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sudden, synchronized bursts of activity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as amplitude spikes &amp; spectral power changes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2361541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32938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44872" y="462457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Data Acquisition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1386411" y="1805735"/>
            <a:ext cx="10250623" cy="32465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CHB-MIT Scalp EEG Database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(pediatric epilepsy patients)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EDF files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multi-channel EEG recordings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via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mne.io.read_raw_edf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both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non-seizure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intervals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2040782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32938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1" y="297757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Preprocessing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1386411" y="2021395"/>
            <a:ext cx="10250623" cy="26001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Notch Filter (60 Hz):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 power-line noise (IIR notch)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Bandpass FIR Filter (0.5–70 Hz):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isolate standard EEG range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10-s overlapping epochs for temporal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z-score (zero mean, unit variance) for consistency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227308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32938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1" y="468744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DSP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1386411" y="2021395"/>
            <a:ext cx="10250623" cy="26121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inter-channel Pearson correlation matrices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moving-average smoothing to reduce fluctuations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Analysis: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FFT + Welch PSD for frequency and band-power estimation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2286233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32938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04076" y="686144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Feature Extraction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1343279" y="1803409"/>
            <a:ext cx="10250623" cy="32465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 Powers: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mean, std, median in δ, θ, α, β, γ bands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energy, variance, skewness, kurtosis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Entropy: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Shannon entropy of normalized PSD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Metrics: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mean, std, max of inter-channel correlations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 Ratios: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e.g., α / β for cognitive state insight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705720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942151" y="839116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1472676" y="2036323"/>
            <a:ext cx="10250623" cy="26001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MNE, SciPy, NumPy, pandas, Matplotlib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workflow via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aggregated into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chb_features.csv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Repository: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github.com/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projectohid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/4142-project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4020401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90680" y="1061883"/>
            <a:ext cx="1161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Spectrogram Analysis (Normal vs. Seizure)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854016" y="2036323"/>
            <a:ext cx="10869284" cy="26001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EEG (Fig. 1) 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Broad spectral power (10–30 Hz, α &amp; β bands)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 EEG (Fig. 2) 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Dominant low-frequency power (&lt;10 Hz, δ &amp; θ)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effective filtering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physiological vs. pathological patterns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3180632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9283" y="6332938"/>
            <a:ext cx="64194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352714"/>
            <a:ext cx="1161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Spectrogram Analysis (Normal vs. Seizure)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FED656-DAA7-9A4F-BE77-5E336AEC5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815" y="1271666"/>
            <a:ext cx="8350369" cy="4261206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1A420F98-CF85-38FC-7DE1-189BCAF73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4982" y="5554472"/>
            <a:ext cx="8021981" cy="483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Fig. 1: Spectrogram for </a:t>
            </a:r>
            <a:r>
              <a:rPr lang="en-US" sz="24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Chb01_01.edf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(non-seizure).</a:t>
            </a:r>
            <a:endParaRPr lang="en-US" sz="2000" b="1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167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352714"/>
            <a:ext cx="1161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Spectrogram Analysis (Normal vs. Seizure)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1A420F98-CF85-38FC-7DE1-189BCAF73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4982" y="5554472"/>
            <a:ext cx="8021981" cy="483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Fig. 2: Spectrogram for </a:t>
            </a:r>
            <a:r>
              <a:rPr lang="en-US" sz="24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Chb01_03.edf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seizure).</a:t>
            </a:r>
            <a:endParaRPr lang="en-US" sz="2000" b="1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D588DA-E0A4-575E-2F21-9DB13FCA1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36" y="1109917"/>
            <a:ext cx="8632072" cy="440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146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4" y="774840"/>
            <a:ext cx="1161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Raw Vs. Filtered Signal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1178944" y="1799772"/>
            <a:ext cx="9834112" cy="3258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Time-domain (Fig. 3):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Filtered signal smoother; reduced drift &amp; 60 Hz noise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Frequency-domain (Fig. 3):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60 Hz peak suppressed; spectrum confined to 0.5–70 Hz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notch + FIR bandpass filters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1696144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4" y="138999"/>
            <a:ext cx="1161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Raw Vs. Filtered Signal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5CCDD8-7E8D-D38F-359C-73B0C56AC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614" y="896202"/>
            <a:ext cx="7134046" cy="4740342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422D4CCD-C54C-5D2E-7E4F-52C72BFC8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645" y="5746408"/>
            <a:ext cx="9687465" cy="48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Fig. 3: Raw and filtered Signals and their Spectrums for  </a:t>
            </a:r>
            <a:r>
              <a:rPr lang="en-US" sz="24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Chb01_01.edf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.</a:t>
            </a:r>
            <a:endParaRPr lang="en-US" sz="2400" b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245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-155996" y="428785"/>
            <a:ext cx="1161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EEG Band Power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409756" y="1434967"/>
            <a:ext cx="4602192" cy="4539191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hierarchy: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l-G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 &gt; θ &gt; β &gt; γ &gt; α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Low-frequency dominance → seizure or drowsy state indicator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accuracy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feature extraction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1F331143-021D-1204-41CB-AC1E246ED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8928" y="5358714"/>
            <a:ext cx="5922118" cy="90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Fig. 4: Average Band Power Across EEG Frequency Bands for  </a:t>
            </a:r>
            <a:r>
              <a:rPr lang="en-US" sz="24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Chb01_01.edf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.</a:t>
            </a:r>
            <a:endParaRPr lang="en-US" sz="2400" b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12393E-347F-5B3D-B6C8-770B03784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257" y="1405928"/>
            <a:ext cx="6206789" cy="384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090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221471"/>
            <a:ext cx="1161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Time-Domain Statistical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389985" y="1243475"/>
            <a:ext cx="4595363" cy="453919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kurtosis: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sharp, transient seizure spikes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skewness: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symmetric yet with frequent outliers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impulsive, non-Gaussian EEG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patterns in seizures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013734-9282-50D7-9BAF-1218CB916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552" y="1047749"/>
            <a:ext cx="6477000" cy="4281267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F873595B-FB58-0498-77AF-AF2B9A2C9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6552" y="5329016"/>
            <a:ext cx="6636746" cy="90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Fig. 5: Distribution of Statistical Time-Domain Features for  </a:t>
            </a:r>
            <a:r>
              <a:rPr lang="en-US" sz="24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Chb01_01.edf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.</a:t>
            </a:r>
            <a:endParaRPr lang="en-US" sz="2400" b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559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221471"/>
            <a:ext cx="1161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Spectral Entropy vs. Delta Power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392537" y="1184541"/>
            <a:ext cx="4554634" cy="482176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correlation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higher δ power = lower entropy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complexity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seizure activity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as nonlinear brain state marker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FD59E4D8-E7D1-9EA6-539E-012F0700F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7350" y="5484827"/>
            <a:ext cx="6619695" cy="771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Fig. 6: Spectral Entropy vs. Delta Band Power for  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Chb01_01.edf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.</a:t>
            </a:r>
            <a:endParaRPr lang="en-US" sz="2000" b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92A061-530D-F1CE-403D-8820E5434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342" y="987426"/>
            <a:ext cx="5555932" cy="461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25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221471"/>
            <a:ext cx="1161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Inter-Channel Correlation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392537" y="1184541"/>
            <a:ext cx="4560464" cy="453919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correlation ≈ 1.0: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cross-channel synchronization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correlation = stable phase coupling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coherence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seizure EEG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A3DB2D-C3B3-2426-21A4-A41447ECD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767" y="877689"/>
            <a:ext cx="5968048" cy="4451885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870BBA69-B2D0-8FEE-9541-B58CAEEFB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346" y="5372437"/>
            <a:ext cx="7022654" cy="9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Fig. 7: Distribution of Inter-Channel Correlation Metrics for  </a:t>
            </a:r>
            <a:r>
              <a:rPr lang="en-US" sz="24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Chb01_01.edf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2693359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221471"/>
            <a:ext cx="1161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Feature Matrix &amp; ML Readiness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1737064" y="4446666"/>
            <a:ext cx="8717872" cy="1820948"/>
          </a:xfrm>
          <a:prstGeom prst="rect">
            <a:avLst/>
          </a:prstGeom>
          <a:noFill/>
          <a:ln w="31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10 s epoch →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30+ DSP-based 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Seizure/non-seizure epochs clearly separable in feature space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suitability for neural network models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F62E6-8982-292C-FA1B-037CBC6EF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11" y="1413986"/>
            <a:ext cx="11891834" cy="2601339"/>
          </a:xfrm>
          <a:prstGeom prst="rect">
            <a:avLst/>
          </a:prstGeom>
          <a:ln w="22225">
            <a:noFill/>
          </a:ln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CEDB9E6A-B5CE-5DC6-D428-BF56C11A3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739" y="877689"/>
            <a:ext cx="8969930" cy="483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Table I: Part of the extracted Feature Matrix for  </a:t>
            </a:r>
            <a:r>
              <a:rPr lang="en-US" sz="24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Chb01_01.edf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771451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221471"/>
            <a:ext cx="1161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4349C5-5C18-90CC-334F-A3ACBF1BC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941619"/>
              </p:ext>
            </p:extLst>
          </p:nvPr>
        </p:nvGraphicFramePr>
        <p:xfrm>
          <a:off x="704850" y="1175385"/>
          <a:ext cx="10782300" cy="4675318"/>
        </p:xfrm>
        <a:graphic>
          <a:graphicData uri="http://schemas.openxmlformats.org/drawingml/2006/table">
            <a:tbl>
              <a:tblPr bandRow="1">
                <a:tableStyleId>{8EC20E35-A176-4012-BC5E-935CFFF8708E}</a:tableStyleId>
              </a:tblPr>
              <a:tblGrid>
                <a:gridCol w="2825152">
                  <a:extLst>
                    <a:ext uri="{9D8B030D-6E8A-4147-A177-3AD203B41FA5}">
                      <a16:colId xmlns:a16="http://schemas.microsoft.com/office/drawing/2014/main" val="2337004936"/>
                    </a:ext>
                  </a:extLst>
                </a:gridCol>
                <a:gridCol w="4363048">
                  <a:extLst>
                    <a:ext uri="{9D8B030D-6E8A-4147-A177-3AD203B41FA5}">
                      <a16:colId xmlns:a16="http://schemas.microsoft.com/office/drawing/2014/main" val="3441652639"/>
                    </a:ext>
                  </a:extLst>
                </a:gridCol>
                <a:gridCol w="3594100">
                  <a:extLst>
                    <a:ext uri="{9D8B030D-6E8A-4147-A177-3AD203B41FA5}">
                      <a16:colId xmlns:a16="http://schemas.microsoft.com/office/drawing/2014/main" val="27274428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Observation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DSP Technique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7361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Spectrograms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Low-frequency dominance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STFT / Spectrogram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9801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Removed 60 Hz &amp; artifacts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Notch + FIR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0495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Band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δ, θ; low α, β, 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FFT + PSD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2495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kurtosis, low skewness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6186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Entropy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−ve correlation with δ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Entropy calc.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3562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inter-channel sync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Pearson corr.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3411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seizure separation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DSP feature extraction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1094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386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149894"/>
            <a:ext cx="1161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8AB75-FC81-0C0A-1AA3-ED8197E2B8EE}"/>
              </a:ext>
            </a:extLst>
          </p:cNvPr>
          <p:cNvSpPr txBox="1"/>
          <p:nvPr/>
        </p:nvSpPr>
        <p:spPr>
          <a:xfrm>
            <a:off x="752474" y="826307"/>
            <a:ext cx="11334571" cy="51658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Behavior</a:t>
            </a: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EEG: broad power (10–30 Hz, α–β bands)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 EEG: strong low-freq. dominance (&lt;10 Hz, δ–θ)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from desynchronized → synchronized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neuronal activity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(notch + bandpass) effectively removed 60 Hz noise &amp; drift while preserving core EEG content</a:t>
            </a:r>
          </a:p>
          <a:p>
            <a:pPr marL="285750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 Power Trends</a:t>
            </a: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nl-N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Hierarchy: </a:t>
            </a:r>
            <a:r>
              <a:rPr lang="nl-NL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 &gt; θ &gt; β &gt; γ &gt; α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α/β ratio &amp; reduced high-freq. power → decreased cortical processing during seizures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3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149894"/>
            <a:ext cx="1161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8AB75-FC81-0C0A-1AA3-ED8197E2B8EE}"/>
              </a:ext>
            </a:extLst>
          </p:cNvPr>
          <p:cNvSpPr txBox="1"/>
          <p:nvPr/>
        </p:nvSpPr>
        <p:spPr>
          <a:xfrm>
            <a:off x="752474" y="826307"/>
            <a:ext cx="11334571" cy="49141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Time-Domain Statistics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kurtosis: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sharp epileptic transients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skewness: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symmetric but heavy-tailed amplitude distribution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Indicates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impulsive, non-</a:t>
            </a:r>
            <a:r>
              <a:rPr lang="fr-FR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Gaussian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seizure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morphology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&amp; Complexity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↓ as Δ-power ↑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reduced signal complexity during seizures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transition 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predictable, synchronized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brain dynamics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= nonlinear complement to power-based metrics</a:t>
            </a:r>
          </a:p>
        </p:txBody>
      </p:sp>
    </p:spTree>
    <p:extLst>
      <p:ext uri="{BB962C8B-B14F-4D97-AF65-F5344CB8AC3E}">
        <p14:creationId xmlns:p14="http://schemas.microsoft.com/office/powerpoint/2010/main" val="28509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149894"/>
            <a:ext cx="1161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8AB75-FC81-0C0A-1AA3-ED8197E2B8EE}"/>
              </a:ext>
            </a:extLst>
          </p:cNvPr>
          <p:cNvSpPr txBox="1"/>
          <p:nvPr/>
        </p:nvSpPr>
        <p:spPr>
          <a:xfrm>
            <a:off x="752474" y="826307"/>
            <a:ext cx="11334571" cy="51658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Inter-Channel Correlation</a:t>
            </a: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cross-channel correlation (≈1.0)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strong spatial coherence</a:t>
            </a: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Reflects widespread cortical synchronization in seizure states</a:t>
            </a:r>
          </a:p>
          <a:p>
            <a:pPr marL="285750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DSP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Takeways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clean, physiologically valid signals</a:t>
            </a: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 / PSD: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reveal spectral composition</a:t>
            </a: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 + Entropy: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quantify morphology &amp; complexity</a:t>
            </a: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spatial coupling → Together,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DSP techniques uncover physiological + pathological EEG patterns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producing interpretable features for intelligent seizure detection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7386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149894"/>
            <a:ext cx="1161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8AB75-FC81-0C0A-1AA3-ED8197E2B8EE}"/>
              </a:ext>
            </a:extLst>
          </p:cNvPr>
          <p:cNvSpPr txBox="1"/>
          <p:nvPr/>
        </p:nvSpPr>
        <p:spPr>
          <a:xfrm>
            <a:off x="752474" y="826307"/>
            <a:ext cx="11334571" cy="56848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DSP methods effectively applied for EEG seizure analysis.</a:t>
            </a:r>
          </a:p>
          <a:p>
            <a:pPr marL="285750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+ spectral + statistical tools made EEG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Notch &amp; FIR filters removed noise, kept key signals.</a:t>
            </a: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Clear normal–seizure separation (low-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dominance).</a:t>
            </a: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kurtosis, low entropy → synchronized seizure waves.</a:t>
            </a: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inter-channel coupling during seizures.</a:t>
            </a:r>
          </a:p>
          <a:p>
            <a:pPr marL="742950" lvl="1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Compact, ML-ready dataset for classification.</a:t>
            </a:r>
          </a:p>
          <a:p>
            <a:pPr marL="285750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DSP bridges theory &amp; application, enabling explainable EEG systems.</a:t>
            </a:r>
          </a:p>
          <a:p>
            <a:pPr marL="285750" indent="-285750">
              <a:lnSpc>
                <a:spcPts val="4000"/>
              </a:lnSpc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309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4" y="711869"/>
            <a:ext cx="1161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8AB75-FC81-0C0A-1AA3-ED8197E2B8EE}"/>
              </a:ext>
            </a:extLst>
          </p:cNvPr>
          <p:cNvSpPr txBox="1"/>
          <p:nvPr/>
        </p:nvSpPr>
        <p:spPr>
          <a:xfrm>
            <a:off x="1223962" y="2290315"/>
            <a:ext cx="9744076" cy="26001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Wavelet Filters: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dynamic, non-stationary EEG noise.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ICA Cleaning: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 eye/muscle artifacts.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 models on DSP-derived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Streamline preprocessing &amp; feature selection.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270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435644"/>
            <a:ext cx="1161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3D9B-9953-99B0-4043-F4C4FE298994}"/>
              </a:ext>
            </a:extLst>
          </p:cNvPr>
          <p:cNvSpPr txBox="1"/>
          <p:nvPr/>
        </p:nvSpPr>
        <p:spPr>
          <a:xfrm>
            <a:off x="776377" y="6433923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8AB75-FC81-0C0A-1AA3-ED8197E2B8EE}"/>
              </a:ext>
            </a:extLst>
          </p:cNvPr>
          <p:cNvSpPr txBox="1"/>
          <p:nvPr/>
        </p:nvSpPr>
        <p:spPr>
          <a:xfrm>
            <a:off x="719138" y="1594990"/>
            <a:ext cx="10753724" cy="33662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L. Tan and J. Jiang,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Digital Signal Processing: Fundamentals and Applications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3rd ed. Elsevier Science, 2018.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Teplan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“Fundamentals of EEG measurement,”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Measurement Science Review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2, no. 2, pp. 1–11, 2002.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Adeli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Z. Zhou, and N.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Dadmehr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“Analysis of EEG records in an epileptic patient using wavelet transform,”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Journal of Neuroscience Methods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123, no. 1, pp. 69–87, 2003.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U. R. Acharya, S. V. Sree, G. Swapna, R. J.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Martis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J. S. Suri, “Automated EEG analysis of epilepsy: A review,”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Knowledge-Based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45, pp. 147–165, 2013.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Aarabi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 Fazel-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Rezai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Y.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Aghakhani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“EEG seizure prediction: Measures and challenges,”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Computers in Biology and Medicine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42, no. 4, pp. 376–390, 2012.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197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sign with a book and text&#10;&#10;AI-generated content may be incorrect.">
            <a:extLst>
              <a:ext uri="{FF2B5EF4-FFF2-40B4-BE49-F238E27FC236}">
                <a16:creationId xmlns:a16="http://schemas.microsoft.com/office/drawing/2014/main" id="{8B79063B-F3B2-A169-2D6F-93B1A0E4E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21" y="6058374"/>
            <a:ext cx="565812" cy="64212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38023" y="5909094"/>
            <a:ext cx="11982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099" y="6207724"/>
            <a:ext cx="676275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77B0C3-5711-195B-4F75-7D59975BC897}"/>
              </a:ext>
            </a:extLst>
          </p:cNvPr>
          <p:cNvSpPr txBox="1"/>
          <p:nvPr/>
        </p:nvSpPr>
        <p:spPr>
          <a:xfrm>
            <a:off x="1696501" y="6102438"/>
            <a:ext cx="51269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Department of </a:t>
            </a:r>
            <a:r>
              <a:rPr lang="en-US" sz="1400" b="1" dirty="0" err="1"/>
              <a:t>Elecctrical</a:t>
            </a:r>
            <a:r>
              <a:rPr lang="en-US" sz="1400" b="1" dirty="0"/>
              <a:t> &amp; Electronic Engineering</a:t>
            </a:r>
          </a:p>
          <a:p>
            <a:r>
              <a:rPr lang="en-US" sz="1600" b="1" dirty="0"/>
              <a:t>Khulna University of Engineering &amp; Technology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76C035-95F4-F84D-EE0C-8CF091BC597E}"/>
              </a:ext>
            </a:extLst>
          </p:cNvPr>
          <p:cNvSpPr txBox="1"/>
          <p:nvPr/>
        </p:nvSpPr>
        <p:spPr>
          <a:xfrm>
            <a:off x="3664168" y="1842350"/>
            <a:ext cx="48636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A8A76-BEF9-3B9A-3559-CA9A688AF057}"/>
              </a:ext>
            </a:extLst>
          </p:cNvPr>
          <p:cNvSpPr txBox="1"/>
          <p:nvPr/>
        </p:nvSpPr>
        <p:spPr>
          <a:xfrm>
            <a:off x="4037827" y="2972313"/>
            <a:ext cx="41163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5A452F-8F22-F71D-E5CF-07E079670D6F}"/>
              </a:ext>
            </a:extLst>
          </p:cNvPr>
          <p:cNvSpPr txBox="1"/>
          <p:nvPr/>
        </p:nvSpPr>
        <p:spPr>
          <a:xfrm>
            <a:off x="6676845" y="6207724"/>
            <a:ext cx="3786954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4142 – Sessional on Digital 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1604068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2596</TotalTime>
  <Words>1768</Words>
  <Application>Microsoft Office PowerPoint</Application>
  <PresentationFormat>Widescreen</PresentationFormat>
  <Paragraphs>241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nonexistentpseudoblessing@outlook.com</dc:creator>
  <cp:lastModifiedBy>nonexistentpseudoblessing@outlook.com</cp:lastModifiedBy>
  <cp:revision>627</cp:revision>
  <dcterms:created xsi:type="dcterms:W3CDTF">2025-09-01T11:58:43Z</dcterms:created>
  <dcterms:modified xsi:type="dcterms:W3CDTF">2025-11-01T17:09:18Z</dcterms:modified>
</cp:coreProperties>
</file>